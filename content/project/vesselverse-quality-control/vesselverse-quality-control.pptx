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78" r:id="rId7"/>
    <p:sldId id="276" r:id="rId8"/>
    <p:sldId id="260" r:id="rId9"/>
    <p:sldId id="279" r:id="rId10"/>
    <p:sldId id="262" r:id="rId11"/>
    <p:sldId id="270" r:id="rId12"/>
    <p:sldId id="264" r:id="rId13"/>
    <p:sldId id="271" r:id="rId14"/>
    <p:sldId id="266" r:id="rId15"/>
    <p:sldId id="272" r:id="rId16"/>
    <p:sldId id="280" r:id="rId17"/>
    <p:sldId id="273" r:id="rId18"/>
    <p:sldId id="274" r:id="rId19"/>
    <p:sldId id="281" r:id="rId20"/>
    <p:sldId id="275" r:id="rId21"/>
    <p:sldId id="268" r:id="rId22"/>
    <p:sldId id="269" r:id="rId23"/>
  </p:sldIdLst>
  <p:sldSz cx="18288000" cy="10287000"/>
  <p:notesSz cx="6858000" cy="9144000"/>
  <p:embeddedFontLs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pen Sans Bold" panose="020B0806030504020204" pitchFamily="34" charset="0"/>
      <p:regular r:id="rId29"/>
      <p:bold r:id="rId30"/>
    </p:embeddedFont>
    <p:embeddedFont>
      <p:font typeface="Open Sans Bold Italics" panose="020B0806030504020204" pitchFamily="34" charset="0"/>
      <p:regular r:id="rId31"/>
      <p:bold r:id="rId32"/>
      <p:italic r:id="rId33"/>
      <p:boldItalic r:id="rId34"/>
    </p:embeddedFont>
    <p:embeddedFont>
      <p:font typeface="Open Sans Italics" panose="020B0606030504020204" pitchFamily="34" charset="0"/>
      <p:regular r:id="rId35"/>
      <p: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2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08" autoAdjust="0"/>
    <p:restoredTop sz="96911" autoAdjust="0"/>
  </p:normalViewPr>
  <p:slideViewPr>
    <p:cSldViewPr>
      <p:cViewPr>
        <p:scale>
          <a:sx n="88" d="100"/>
          <a:sy n="88" d="100"/>
        </p:scale>
        <p:origin x="920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5" d="100"/>
        <a:sy n="3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120B5-3212-6D4B-B043-97D505C693FF}" type="datetimeFigureOut">
              <a:rPr lang="it-IT" smtClean="0"/>
              <a:t>05/02/26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733ED-425D-D94D-AC89-DD7D80EBB2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05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56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5244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4778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4313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9364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2744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3183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733ED-425D-D94D-AC89-DD7D80EBB25E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355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-vesseg/VESSEL-METRICS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8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oRamill/VesselVerse-QualityControl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30971" y="1563242"/>
            <a:ext cx="12426059" cy="7160516"/>
          </a:xfrm>
          <a:custGeom>
            <a:avLst/>
            <a:gdLst/>
            <a:ahLst/>
            <a:cxnLst/>
            <a:rect l="l" t="t" r="r" b="b"/>
            <a:pathLst>
              <a:path w="12426059" h="7160516">
                <a:moveTo>
                  <a:pt x="0" y="0"/>
                </a:moveTo>
                <a:lnTo>
                  <a:pt x="12426058" y="0"/>
                </a:lnTo>
                <a:lnTo>
                  <a:pt x="12426058" y="7160516"/>
                </a:lnTo>
                <a:lnTo>
                  <a:pt x="0" y="71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CE22883-D70C-D2A6-3888-9BB0D82A8B5D}"/>
              </a:ext>
            </a:extLst>
          </p:cNvPr>
          <p:cNvSpPr txBox="1"/>
          <p:nvPr/>
        </p:nvSpPr>
        <p:spPr>
          <a:xfrm>
            <a:off x="4572000" y="8572500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/>
              <a:t>Leonard Vincent Ramil – EURECOM, Semester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82D8EEF-B220-A91F-7F1F-4EACCF62F8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376" y="0"/>
            <a:ext cx="18319376" cy="10287000"/>
          </a:xfrm>
          <a:prstGeom prst="rect">
            <a:avLst/>
          </a:prstGeom>
          <a:solidFill>
            <a:srgbClr val="82233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E159D07-BF14-AD85-12F1-3A8245AEBB3F}"/>
              </a:ext>
            </a:extLst>
          </p:cNvPr>
          <p:cNvSpPr txBox="1"/>
          <p:nvPr/>
        </p:nvSpPr>
        <p:spPr>
          <a:xfrm>
            <a:off x="1080247" y="1225719"/>
            <a:ext cx="9203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0"/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Of Contents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08B38E2-52C7-3D2B-73DC-28C9F814D554}"/>
              </a:ext>
            </a:extLst>
          </p:cNvPr>
          <p:cNvSpPr txBox="1"/>
          <p:nvPr/>
        </p:nvSpPr>
        <p:spPr>
          <a:xfrm>
            <a:off x="1080247" y="2628900"/>
            <a:ext cx="10866121" cy="348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Create MIP Image and Labeling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Tabular Data with </a:t>
            </a:r>
            <a:r>
              <a:rPr lang="en-US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VesselMetrics</a:t>
            </a:r>
            <a:endParaRPr lang="en-US" sz="3000" b="1" dirty="0">
              <a:solidFill>
                <a:schemeClr val="bg1">
                  <a:lumMod val="6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Methodologies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Experiment Results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it-IT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  <a:r>
              <a:rPr lang="it-IT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Future Work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5936047-ED84-D4A1-F400-894F643D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AB95F57-D541-A186-F013-FBD18A8E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5859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1909" y="2564186"/>
            <a:ext cx="17424182" cy="5870951"/>
          </a:xfrm>
          <a:custGeom>
            <a:avLst/>
            <a:gdLst/>
            <a:ahLst/>
            <a:cxnLst/>
            <a:rect l="l" t="t" r="r" b="b"/>
            <a:pathLst>
              <a:path w="17424182" h="5870951">
                <a:moveTo>
                  <a:pt x="0" y="0"/>
                </a:moveTo>
                <a:lnTo>
                  <a:pt x="17424182" y="0"/>
                </a:lnTo>
                <a:lnTo>
                  <a:pt x="17424182" y="5870950"/>
                </a:lnTo>
                <a:lnTo>
                  <a:pt x="0" y="587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718881" y="1232535"/>
            <a:ext cx="5580534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MIP Image and Labeling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57442" y="8467090"/>
            <a:ext cx="1103412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Axial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98954" y="8467090"/>
            <a:ext cx="1690092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Sagittal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52749" y="8467090"/>
            <a:ext cx="1731764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Coronal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078DF79-ACDE-BB36-74D5-0CB5CC4DA8F2}"/>
              </a:ext>
            </a:extLst>
          </p:cNvPr>
          <p:cNvSpPr txBox="1"/>
          <p:nvPr/>
        </p:nvSpPr>
        <p:spPr>
          <a:xfrm>
            <a:off x="718881" y="795959"/>
            <a:ext cx="10891189" cy="49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MIP: Maximum Intensity Projection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3651694-9D76-FB6A-E163-265910A7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369F489-E358-1498-7F78-248E3165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9477" y="6161423"/>
            <a:ext cx="12694612" cy="4169491"/>
          </a:xfrm>
          <a:custGeom>
            <a:avLst/>
            <a:gdLst/>
            <a:ahLst/>
            <a:cxnLst/>
            <a:rect l="l" t="t" r="r" b="b"/>
            <a:pathLst>
              <a:path w="12694612" h="4169491">
                <a:moveTo>
                  <a:pt x="0" y="0"/>
                </a:moveTo>
                <a:lnTo>
                  <a:pt x="12694612" y="0"/>
                </a:lnTo>
                <a:lnTo>
                  <a:pt x="12694612" y="4169491"/>
                </a:lnTo>
                <a:lnTo>
                  <a:pt x="0" y="4169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4149477" y="2272447"/>
            <a:ext cx="12694612" cy="4169491"/>
          </a:xfrm>
          <a:custGeom>
            <a:avLst/>
            <a:gdLst/>
            <a:ahLst/>
            <a:cxnLst/>
            <a:rect l="l" t="t" r="r" b="b"/>
            <a:pathLst>
              <a:path w="12694612" h="4169491">
                <a:moveTo>
                  <a:pt x="0" y="0"/>
                </a:moveTo>
                <a:lnTo>
                  <a:pt x="12694612" y="0"/>
                </a:lnTo>
                <a:lnTo>
                  <a:pt x="12694612" y="4169491"/>
                </a:lnTo>
                <a:lnTo>
                  <a:pt x="0" y="416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699986" y="696818"/>
            <a:ext cx="10891189" cy="49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Baseline: Bad and Very Good Segmentation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1909" y="4071443"/>
            <a:ext cx="306385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 SPOCKMIP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9986" y="7960418"/>
            <a:ext cx="252769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 Manual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37905" y="1766193"/>
            <a:ext cx="829895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Normal002-MRA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37EA6B0-C6C3-5A71-FAB5-96A498BEDA76}"/>
              </a:ext>
            </a:extLst>
          </p:cNvPr>
          <p:cNvSpPr txBox="1"/>
          <p:nvPr/>
        </p:nvSpPr>
        <p:spPr>
          <a:xfrm>
            <a:off x="718881" y="1232535"/>
            <a:ext cx="5580534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MIP Image and Labeling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E194746-13AB-FDAA-A07A-995E43D5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30A2D67-639C-61B5-D28F-23D21EFC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05441" y="568376"/>
            <a:ext cx="4782559" cy="3804308"/>
          </a:xfrm>
          <a:custGeom>
            <a:avLst/>
            <a:gdLst/>
            <a:ahLst/>
            <a:cxnLst/>
            <a:rect l="l" t="t" r="r" b="b"/>
            <a:pathLst>
              <a:path w="4782559" h="3804308">
                <a:moveTo>
                  <a:pt x="0" y="0"/>
                </a:moveTo>
                <a:lnTo>
                  <a:pt x="4782559" y="0"/>
                </a:lnTo>
                <a:lnTo>
                  <a:pt x="4782559" y="3804308"/>
                </a:lnTo>
                <a:lnTo>
                  <a:pt x="0" y="3804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383986" y="323306"/>
            <a:ext cx="4285539" cy="4294449"/>
          </a:xfrm>
          <a:custGeom>
            <a:avLst/>
            <a:gdLst/>
            <a:ahLst/>
            <a:cxnLst/>
            <a:rect l="l" t="t" r="r" b="b"/>
            <a:pathLst>
              <a:path w="4285539" h="4294449">
                <a:moveTo>
                  <a:pt x="0" y="0"/>
                </a:moveTo>
                <a:lnTo>
                  <a:pt x="4285539" y="0"/>
                </a:lnTo>
                <a:lnTo>
                  <a:pt x="4285539" y="4294449"/>
                </a:lnTo>
                <a:lnTo>
                  <a:pt x="0" y="4294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 rot="-5400000">
            <a:off x="11526755" y="1969781"/>
            <a:ext cx="2262318" cy="975660"/>
            <a:chOff x="0" y="0"/>
            <a:chExt cx="595837" cy="2569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5837" cy="256964"/>
            </a:xfrm>
            <a:custGeom>
              <a:avLst/>
              <a:gdLst/>
              <a:ahLst/>
              <a:cxnLst/>
              <a:rect l="l" t="t" r="r" b="b"/>
              <a:pathLst>
                <a:path w="595837" h="256964">
                  <a:moveTo>
                    <a:pt x="0" y="0"/>
                  </a:moveTo>
                  <a:lnTo>
                    <a:pt x="595837" y="0"/>
                  </a:lnTo>
                  <a:lnTo>
                    <a:pt x="595837" y="256964"/>
                  </a:lnTo>
                  <a:lnTo>
                    <a:pt x="0" y="256964"/>
                  </a:lnTo>
                  <a:close/>
                </a:path>
              </a:pathLst>
            </a:custGeom>
            <a:ln w="47625" cap="sq">
              <a:solidFill>
                <a:srgbClr val="CD303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95837" cy="295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15586643" y="1841983"/>
            <a:ext cx="698938" cy="558156"/>
            <a:chOff x="0" y="0"/>
            <a:chExt cx="184083" cy="1470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083" cy="147004"/>
            </a:xfrm>
            <a:custGeom>
              <a:avLst/>
              <a:gdLst/>
              <a:ahLst/>
              <a:cxnLst/>
              <a:rect l="l" t="t" r="r" b="b"/>
              <a:pathLst>
                <a:path w="184083" h="147004">
                  <a:moveTo>
                    <a:pt x="0" y="0"/>
                  </a:moveTo>
                  <a:lnTo>
                    <a:pt x="184083" y="0"/>
                  </a:lnTo>
                  <a:lnTo>
                    <a:pt x="184083" y="147004"/>
                  </a:lnTo>
                  <a:lnTo>
                    <a:pt x="0" y="147004"/>
                  </a:lnTo>
                  <a:close/>
                </a:path>
              </a:pathLst>
            </a:custGeom>
            <a:ln w="47625" cap="sq">
              <a:solidFill>
                <a:srgbClr val="CD303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4083" cy="185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50123" y="3780739"/>
            <a:ext cx="3510637" cy="3209725"/>
          </a:xfrm>
          <a:custGeom>
            <a:avLst/>
            <a:gdLst/>
            <a:ahLst/>
            <a:cxnLst/>
            <a:rect l="l" t="t" r="r" b="b"/>
            <a:pathLst>
              <a:path w="3510637" h="3209725">
                <a:moveTo>
                  <a:pt x="0" y="0"/>
                </a:moveTo>
                <a:lnTo>
                  <a:pt x="3510637" y="0"/>
                </a:lnTo>
                <a:lnTo>
                  <a:pt x="3510637" y="3209726"/>
                </a:lnTo>
                <a:lnTo>
                  <a:pt x="0" y="3209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39" t="-10903" r="-237287" b="-11857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13483813" y="4247746"/>
            <a:ext cx="1174826" cy="1017867"/>
            <a:chOff x="0" y="0"/>
            <a:chExt cx="309419" cy="268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9419" cy="268080"/>
            </a:xfrm>
            <a:custGeom>
              <a:avLst/>
              <a:gdLst/>
              <a:ahLst/>
              <a:cxnLst/>
              <a:rect l="l" t="t" r="r" b="b"/>
              <a:pathLst>
                <a:path w="309419" h="268080">
                  <a:moveTo>
                    <a:pt x="0" y="0"/>
                  </a:moveTo>
                  <a:lnTo>
                    <a:pt x="309419" y="0"/>
                  </a:lnTo>
                  <a:lnTo>
                    <a:pt x="309419" y="268080"/>
                  </a:lnTo>
                  <a:lnTo>
                    <a:pt x="0" y="268080"/>
                  </a:lnTo>
                  <a:close/>
                </a:path>
              </a:pathLst>
            </a:custGeom>
            <a:ln w="47625" cap="sq">
              <a:solidFill>
                <a:srgbClr val="CD303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09419" cy="306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5400000">
            <a:off x="9884235" y="5554784"/>
            <a:ext cx="3285041" cy="5747384"/>
          </a:xfrm>
          <a:custGeom>
            <a:avLst/>
            <a:gdLst/>
            <a:ahLst/>
            <a:cxnLst/>
            <a:rect l="l" t="t" r="r" b="b"/>
            <a:pathLst>
              <a:path w="3285041" h="5747384">
                <a:moveTo>
                  <a:pt x="0" y="0"/>
                </a:moveTo>
                <a:lnTo>
                  <a:pt x="3285041" y="0"/>
                </a:lnTo>
                <a:lnTo>
                  <a:pt x="3285041" y="5747385"/>
                </a:lnTo>
                <a:lnTo>
                  <a:pt x="0" y="5747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6639" r="-21604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TextBox 15"/>
          <p:cNvSpPr txBox="1"/>
          <p:nvPr/>
        </p:nvSpPr>
        <p:spPr>
          <a:xfrm>
            <a:off x="699986" y="670350"/>
            <a:ext cx="10891189" cy="49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Label Methodologies: Two Way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830" y="4497209"/>
            <a:ext cx="2311068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Common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Properties: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10982" y="3551894"/>
            <a:ext cx="5199897" cy="33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Abnormal Ramifications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Noise on the right end of the Axial Image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Defined Distal Cortical Branches (or pial vessels) in a Axial Image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Fragmented Segmentation</a:t>
            </a:r>
          </a:p>
        </p:txBody>
      </p:sp>
      <p:grpSp>
        <p:nvGrpSpPr>
          <p:cNvPr id="23" name="Group 23"/>
          <p:cNvGrpSpPr/>
          <p:nvPr/>
        </p:nvGrpSpPr>
        <p:grpSpPr>
          <a:xfrm rot="-5400000">
            <a:off x="11301389" y="5974978"/>
            <a:ext cx="992434" cy="3743837"/>
            <a:chOff x="0" y="0"/>
            <a:chExt cx="261382" cy="9860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1382" cy="986031"/>
            </a:xfrm>
            <a:custGeom>
              <a:avLst/>
              <a:gdLst/>
              <a:ahLst/>
              <a:cxnLst/>
              <a:rect l="l" t="t" r="r" b="b"/>
              <a:pathLst>
                <a:path w="261382" h="986031">
                  <a:moveTo>
                    <a:pt x="0" y="0"/>
                  </a:moveTo>
                  <a:lnTo>
                    <a:pt x="261382" y="0"/>
                  </a:lnTo>
                  <a:lnTo>
                    <a:pt x="261382" y="986031"/>
                  </a:lnTo>
                  <a:lnTo>
                    <a:pt x="0" y="986031"/>
                  </a:lnTo>
                  <a:close/>
                </a:path>
              </a:pathLst>
            </a:custGeom>
            <a:ln w="47625" cap="sq">
              <a:solidFill>
                <a:srgbClr val="CD303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61382" cy="1024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4">
            <a:extLst>
              <a:ext uri="{FF2B5EF4-FFF2-40B4-BE49-F238E27FC236}">
                <a16:creationId xmlns:a16="http://schemas.microsoft.com/office/drawing/2014/main" id="{1FB53C52-B5CF-AA91-A0B7-F773D623A216}"/>
              </a:ext>
            </a:extLst>
          </p:cNvPr>
          <p:cNvSpPr txBox="1"/>
          <p:nvPr/>
        </p:nvSpPr>
        <p:spPr>
          <a:xfrm>
            <a:off x="699985" y="1088283"/>
            <a:ext cx="5580534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MIP Image and Labeling</a:t>
            </a: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50868282-E473-B004-C1B1-D60389BD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5EE52F5-A67C-BF4A-CB43-29F304A8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9E04-B4E4-F0D0-DB70-9F711C03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76B93B36-4440-FA86-5306-07A7D46FCD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376" y="0"/>
            <a:ext cx="18319376" cy="10287000"/>
          </a:xfrm>
          <a:prstGeom prst="rect">
            <a:avLst/>
          </a:prstGeom>
          <a:solidFill>
            <a:srgbClr val="82233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F672622-4F2B-CEC4-0D3A-937E05867CD5}"/>
              </a:ext>
            </a:extLst>
          </p:cNvPr>
          <p:cNvSpPr txBox="1"/>
          <p:nvPr/>
        </p:nvSpPr>
        <p:spPr>
          <a:xfrm>
            <a:off x="1080247" y="1225719"/>
            <a:ext cx="9203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0"/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Of Contents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AAD069E-4401-657F-12C1-9CE9F8DEA927}"/>
              </a:ext>
            </a:extLst>
          </p:cNvPr>
          <p:cNvSpPr txBox="1"/>
          <p:nvPr/>
        </p:nvSpPr>
        <p:spPr>
          <a:xfrm>
            <a:off x="1080247" y="2628900"/>
            <a:ext cx="10866121" cy="348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Create MIP Image and Labeling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Tabular Data with </a:t>
            </a:r>
            <a:r>
              <a:rPr lang="en-US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VesselMetrics</a:t>
            </a:r>
            <a:endParaRPr lang="en-US" sz="30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Methodologies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Experiment Results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it-IT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  <a:r>
              <a:rPr lang="it-IT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Future Work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0C03655-F403-8B67-45A3-6B76C3C1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AEAF8-C44D-6C6A-681C-E58D1CB9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9663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93B88-2E83-8767-A810-653BFE23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23C75BE-A83A-6AF8-3642-987E8DB056BB}"/>
              </a:ext>
            </a:extLst>
          </p:cNvPr>
          <p:cNvSpPr txBox="1"/>
          <p:nvPr/>
        </p:nvSpPr>
        <p:spPr>
          <a:xfrm>
            <a:off x="699986" y="713078"/>
            <a:ext cx="12102369" cy="497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4000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VesselMetrics</a:t>
            </a:r>
            <a:r>
              <a:rPr lang="en-US" sz="40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Features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08D60E5-B002-3FBA-485E-9FAD1533CE8B}"/>
              </a:ext>
            </a:extLst>
          </p:cNvPr>
          <p:cNvSpPr txBox="1"/>
          <p:nvPr/>
        </p:nvSpPr>
        <p:spPr>
          <a:xfrm>
            <a:off x="838200" y="1210971"/>
            <a:ext cx="5319814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Tabular Data with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VesselMetrics</a:t>
            </a:r>
            <a:endParaRPr lang="en-US" sz="27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B6D7606-7145-FBA4-7829-6E289A98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97622B-E1C0-11A9-7635-8EB245DA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22F13-97DA-3658-4847-01C1932CCF61}"/>
              </a:ext>
            </a:extLst>
          </p:cNvPr>
          <p:cNvSpPr txBox="1"/>
          <p:nvPr/>
        </p:nvSpPr>
        <p:spPr>
          <a:xfrm>
            <a:off x="2647950" y="1933829"/>
            <a:ext cx="12992100" cy="448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Quantitative features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extracted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from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representations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divided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by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four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categories</a:t>
            </a:r>
            <a:endParaRPr lang="en-US" sz="25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714AA9E6-8C20-780E-E3F5-657027ED5CB9}"/>
              </a:ext>
            </a:extLst>
          </p:cNvPr>
          <p:cNvSpPr txBox="1"/>
          <p:nvPr/>
        </p:nvSpPr>
        <p:spPr>
          <a:xfrm>
            <a:off x="919012" y="2495452"/>
            <a:ext cx="6324600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Morphometric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Features (</a:t>
            </a:r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Structure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algn="ctr">
              <a:spcBef>
                <a:spcPct val="0"/>
              </a:spcBef>
            </a:pPr>
            <a:endParaRPr lang="it-IT" sz="2500" b="1" dirty="0">
              <a:solidFill>
                <a:srgbClr val="822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ct val="0"/>
              </a:spcBef>
            </a:pP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Quantifies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extent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capacity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structural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integrity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the network:</a:t>
            </a:r>
          </a:p>
          <a:p>
            <a:pPr>
              <a:spcBef>
                <a:spcPct val="0"/>
              </a:spcBef>
            </a:pPr>
            <a:endParaRPr lang="it-IT" sz="25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 Vessel </a:t>
            </a: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Length</a:t>
            </a:r>
            <a:endParaRPr lang="it-IT" sz="25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it-IT" sz="25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Volume</a:t>
            </a:r>
            <a:endParaRPr lang="it-IT" sz="25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Bifurcation</a:t>
            </a: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Count</a:t>
            </a:r>
            <a:endParaRPr lang="en-US" sz="2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DECCF4A-3731-7F67-207B-9DD8134DF353}"/>
              </a:ext>
            </a:extLst>
          </p:cNvPr>
          <p:cNvSpPr txBox="1"/>
          <p:nvPr/>
        </p:nvSpPr>
        <p:spPr>
          <a:xfrm>
            <a:off x="533400" y="5895566"/>
            <a:ext cx="709582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Topological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Features (Connectivity)</a:t>
            </a:r>
          </a:p>
          <a:p>
            <a:pPr algn="ctr"/>
            <a:endParaRPr lang="it-IT" sz="2500" b="1" dirty="0">
              <a:solidFill>
                <a:srgbClr val="822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Describes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branching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connectivity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patterns.</a:t>
            </a:r>
          </a:p>
          <a:p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Number</a:t>
            </a: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Loops</a:t>
            </a:r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Loop </a:t>
            </a: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Lengths</a:t>
            </a:r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Connected</a:t>
            </a: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Components</a:t>
            </a:r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Abnormal</a:t>
            </a: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-Degree </a:t>
            </a: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Nodes</a:t>
            </a:r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E586A9F-664F-0F1E-E6B8-7AE20307AADD}"/>
              </a:ext>
            </a:extLst>
          </p:cNvPr>
          <p:cNvSpPr txBox="1"/>
          <p:nvPr/>
        </p:nvSpPr>
        <p:spPr>
          <a:xfrm>
            <a:off x="8610600" y="2751244"/>
            <a:ext cx="77724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Fractal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Features (</a:t>
            </a:r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Hierarchical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Complexity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algn="ctr"/>
            <a:endParaRPr lang="it-IT" sz="2500" b="1" dirty="0">
              <a:solidFill>
                <a:srgbClr val="822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Characterizes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self-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similarity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spatial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texture.</a:t>
            </a:r>
          </a:p>
          <a:p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Fractal</a:t>
            </a: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Dimension</a:t>
            </a:r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Lacunarity</a:t>
            </a:r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6DAD24C-DDED-53CC-1357-1A6CBD1D1144}"/>
              </a:ext>
            </a:extLst>
          </p:cNvPr>
          <p:cNvSpPr txBox="1"/>
          <p:nvPr/>
        </p:nvSpPr>
        <p:spPr>
          <a:xfrm>
            <a:off x="8948888" y="5895566"/>
            <a:ext cx="7095824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Geometric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Features (</a:t>
            </a:r>
            <a:r>
              <a:rPr lang="it-IT" sz="2500" b="1" dirty="0" err="1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Tortuosity</a:t>
            </a:r>
            <a:r>
              <a:rPr lang="it-IT" sz="2500" b="1" dirty="0">
                <a:solidFill>
                  <a:srgbClr val="822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algn="ctr"/>
            <a:endParaRPr lang="it-IT" sz="2500" b="1" dirty="0">
              <a:solidFill>
                <a:srgbClr val="822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Quantifies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vessel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morphology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shape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irregularity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curves</a:t>
            </a:r>
            <a:r>
              <a:rPr lang="it-IT" sz="2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 Curvature (</a:t>
            </a: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Tortuosity</a:t>
            </a: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it-IT" sz="2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 </a:t>
            </a:r>
            <a:r>
              <a:rPr lang="it-IT" sz="2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Squared</a:t>
            </a:r>
            <a:r>
              <a:rPr lang="it-IT" sz="2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Curvature</a:t>
            </a:r>
            <a:endParaRPr lang="it-IT" sz="25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ECC1F27-F92F-CC4E-4D79-882A2D48C3C1}"/>
              </a:ext>
            </a:extLst>
          </p:cNvPr>
          <p:cNvSpPr txBox="1"/>
          <p:nvPr/>
        </p:nvSpPr>
        <p:spPr>
          <a:xfrm>
            <a:off x="12954000" y="9455223"/>
            <a:ext cx="57635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Open Sans Bold"/>
                <a:ea typeface="Open Sans Bold"/>
                <a:cs typeface="Open Sans Bold"/>
                <a:sym typeface="Open Sans Bold"/>
              </a:rPr>
              <a:t>Ref</a:t>
            </a:r>
            <a:r>
              <a:rPr lang="en-US" sz="1500" b="1" i="1" dirty="0"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  <a:r>
              <a:rPr lang="en-US" sz="1500" b="1" i="1" dirty="0">
                <a:latin typeface="Open Sans Bold"/>
                <a:ea typeface="Open Sans Bold"/>
                <a:cs typeface="Open Sans Bold"/>
                <a:sym typeface="Open Sans 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500" b="1" i="1" dirty="0" err="1">
                <a:latin typeface="Open Sans Bold"/>
                <a:ea typeface="Open Sans Bold"/>
                <a:cs typeface="Open Sans Bold"/>
                <a:sym typeface="Open Sans 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US" sz="1500" b="1" i="1" dirty="0">
                <a:latin typeface="Open Sans Bold"/>
                <a:ea typeface="Open Sans Bold"/>
                <a:cs typeface="Open Sans Bold"/>
                <a:sym typeface="Open Sans 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500" b="1" i="1" dirty="0" err="1">
                <a:latin typeface="Open Sans Bold"/>
                <a:ea typeface="Open Sans Bold"/>
                <a:cs typeface="Open Sans Bold"/>
                <a:sym typeface="Open Sans 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i-vesseg</a:t>
            </a:r>
            <a:r>
              <a:rPr lang="en-US" sz="1500" b="1" i="1" dirty="0">
                <a:latin typeface="Open Sans Bold"/>
                <a:ea typeface="Open Sans Bold"/>
                <a:cs typeface="Open Sans Bold"/>
                <a:sym typeface="Open Sans 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/VESSEL-METRICS</a:t>
            </a:r>
            <a:endParaRPr lang="en-US" sz="1500" i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8949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99986" y="713078"/>
            <a:ext cx="12102369" cy="49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Statistics: Correlation 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200" y="1210971"/>
            <a:ext cx="5319814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Tabular Data with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VesselMetrics</a:t>
            </a:r>
            <a:endParaRPr lang="en-US" sz="27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1714CF8-2249-E2A9-C734-406823CC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D42087-D776-CC02-0F99-CD7E6103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9" name="Immagine 8" descr="Immagine che contiene testo, schermata, diagramma, modello&#10;&#10;Il contenuto generato dall'IA potrebbe non essere corretto.">
            <a:extLst>
              <a:ext uri="{FF2B5EF4-FFF2-40B4-BE49-F238E27FC236}">
                <a16:creationId xmlns:a16="http://schemas.microsoft.com/office/drawing/2014/main" id="{A1795487-6543-BD42-1060-9A21364BD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541" y="1665839"/>
            <a:ext cx="8765829" cy="81068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BB04-2BCD-4EFF-C370-151BBFA8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0D9F99F-BD7A-26EB-2AE9-CE8C6FB55E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376" y="0"/>
            <a:ext cx="18319376" cy="10287000"/>
          </a:xfrm>
          <a:prstGeom prst="rect">
            <a:avLst/>
          </a:prstGeom>
          <a:solidFill>
            <a:srgbClr val="82233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5BB7F14-394E-E749-3D45-83FB8E6EB1F6}"/>
              </a:ext>
            </a:extLst>
          </p:cNvPr>
          <p:cNvSpPr txBox="1"/>
          <p:nvPr/>
        </p:nvSpPr>
        <p:spPr>
          <a:xfrm>
            <a:off x="1080247" y="1225719"/>
            <a:ext cx="9203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0"/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Of Contents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E03D963-A254-7FE4-8A8F-E6CF16510D51}"/>
              </a:ext>
            </a:extLst>
          </p:cNvPr>
          <p:cNvSpPr txBox="1"/>
          <p:nvPr/>
        </p:nvSpPr>
        <p:spPr>
          <a:xfrm>
            <a:off x="1080247" y="2628900"/>
            <a:ext cx="10866121" cy="348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Create MIP Image and Labeling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Tabular Data with </a:t>
            </a:r>
            <a:r>
              <a:rPr lang="en-US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VesselMetrics</a:t>
            </a:r>
            <a:endParaRPr lang="en-US" sz="3000" b="1" dirty="0">
              <a:solidFill>
                <a:schemeClr val="bg1">
                  <a:lumMod val="6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Methodologies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Experiment Results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it-IT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  <a:r>
              <a:rPr lang="it-IT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Future Work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164EF4F-DE4B-1585-7CD3-9E8D01F2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2AF07-8AD0-AB75-D8A0-C412E73D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9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865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6713" y="2721530"/>
            <a:ext cx="14811287" cy="4843941"/>
          </a:xfrm>
          <a:custGeom>
            <a:avLst/>
            <a:gdLst/>
            <a:ahLst/>
            <a:cxnLst/>
            <a:rect l="l" t="t" r="r" b="b"/>
            <a:pathLst>
              <a:path w="14811287" h="4843941">
                <a:moveTo>
                  <a:pt x="0" y="0"/>
                </a:moveTo>
                <a:lnTo>
                  <a:pt x="14811287" y="0"/>
                </a:lnTo>
                <a:lnTo>
                  <a:pt x="14811287" y="4843940"/>
                </a:lnTo>
                <a:lnTo>
                  <a:pt x="0" y="484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546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431909" y="650875"/>
            <a:ext cx="1210236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 Layer Perceptron Tabular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0116" y="1252596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Methodologies</a:t>
            </a:r>
          </a:p>
        </p:txBody>
      </p:sp>
      <p:sp>
        <p:nvSpPr>
          <p:cNvPr id="5" name="Freeform 5"/>
          <p:cNvSpPr/>
          <p:nvPr/>
        </p:nvSpPr>
        <p:spPr>
          <a:xfrm rot="1442448">
            <a:off x="19095" y="4092850"/>
            <a:ext cx="2110619" cy="2101300"/>
          </a:xfrm>
          <a:custGeom>
            <a:avLst/>
            <a:gdLst/>
            <a:ahLst/>
            <a:cxnLst/>
            <a:rect l="l" t="t" r="r" b="b"/>
            <a:pathLst>
              <a:path w="2110619" h="2101300">
                <a:moveTo>
                  <a:pt x="0" y="0"/>
                </a:moveTo>
                <a:lnTo>
                  <a:pt x="2110618" y="0"/>
                </a:lnTo>
                <a:lnTo>
                  <a:pt x="2110618" y="2101300"/>
                </a:lnTo>
                <a:lnTo>
                  <a:pt x="0" y="2101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-1357599" y="6143677"/>
            <a:ext cx="4864007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Vessel Mask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2466359" y="5336613"/>
            <a:ext cx="2181008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609302" y="4757590"/>
            <a:ext cx="3734821" cy="59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766" b="1">
                <a:solidFill>
                  <a:srgbClr val="C233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VesselMetrics </a:t>
            </a:r>
          </a:p>
          <a:p>
            <a:pPr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C233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 Extraction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D3F8F6B-9EC2-B953-F985-1E06DCDD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59F4AB2-F2FF-D798-E797-79191A11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E3BC-F2F3-3B69-C793-50FA5935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DCB67AD-6EBE-F26B-B2CE-357D9466D231}"/>
              </a:ext>
            </a:extLst>
          </p:cNvPr>
          <p:cNvSpPr txBox="1"/>
          <p:nvPr/>
        </p:nvSpPr>
        <p:spPr>
          <a:xfrm>
            <a:off x="431909" y="650875"/>
            <a:ext cx="12102369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MLP Tabular Performance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2FE5E9-EC83-D83C-C747-C3A910DF4495}"/>
              </a:ext>
            </a:extLst>
          </p:cNvPr>
          <p:cNvSpPr txBox="1"/>
          <p:nvPr/>
        </p:nvSpPr>
        <p:spPr>
          <a:xfrm>
            <a:off x="503841" y="1276105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Methodologies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624536E0-FBF0-A6D1-965B-83919212CC27}"/>
              </a:ext>
            </a:extLst>
          </p:cNvPr>
          <p:cNvSpPr txBox="1"/>
          <p:nvPr/>
        </p:nvSpPr>
        <p:spPr>
          <a:xfrm>
            <a:off x="503841" y="1740926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SGD</a:t>
            </a:r>
          </a:p>
        </p:txBody>
      </p:sp>
      <p:pic>
        <p:nvPicPr>
          <p:cNvPr id="11" name="Immagine 10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ABC2206D-DA23-5436-49BE-3BC952255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549" y="2195793"/>
            <a:ext cx="6210922" cy="3726553"/>
          </a:xfrm>
          <a:prstGeom prst="rect">
            <a:avLst/>
          </a:prstGeom>
        </p:spPr>
      </p:pic>
      <p:pic>
        <p:nvPicPr>
          <p:cNvPr id="13" name="Immagine 1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58C059F-E31E-B109-36FF-0DD46372A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549" y="6003803"/>
            <a:ext cx="6210922" cy="3726553"/>
          </a:xfrm>
          <a:prstGeom prst="rect">
            <a:avLst/>
          </a:prstGeom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33EB2B48-64DD-F77D-E87C-A5D7400BCE58}"/>
              </a:ext>
            </a:extLst>
          </p:cNvPr>
          <p:cNvSpPr txBox="1"/>
          <p:nvPr/>
        </p:nvSpPr>
        <p:spPr>
          <a:xfrm>
            <a:off x="7163704" y="1795825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RMSPROP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63FE6CB3-8A42-9D7B-0CAB-A85AAC9A4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824" y="2195794"/>
            <a:ext cx="6210921" cy="3726553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1F690D9C-9F4D-BC42-5E85-CE284FC5DB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824" y="6005794"/>
            <a:ext cx="6210921" cy="3726553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575ED619-6EFD-25E4-5D28-70C97333DDA1}"/>
              </a:ext>
            </a:extLst>
          </p:cNvPr>
          <p:cNvSpPr txBox="1"/>
          <p:nvPr/>
        </p:nvSpPr>
        <p:spPr>
          <a:xfrm>
            <a:off x="13448158" y="1795825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Adam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3DFB4AE-5AA2-0F52-C40E-5B8B1F79A4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4278" y="2231903"/>
            <a:ext cx="6210921" cy="3726553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AE805A68-8CC8-15C6-F525-3E63E19139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4278" y="6041903"/>
            <a:ext cx="6210921" cy="3726553"/>
          </a:xfrm>
          <a:prstGeom prst="rect">
            <a:avLst/>
          </a:prstGeom>
        </p:spPr>
      </p:pic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F9EBA36-A0BF-8FD6-991D-FFDC1D4E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8F717B4-8D6F-D99A-716A-497E29D4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3124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442448">
            <a:off x="360233" y="5001421"/>
            <a:ext cx="2110619" cy="2101300"/>
          </a:xfrm>
          <a:custGeom>
            <a:avLst/>
            <a:gdLst/>
            <a:ahLst/>
            <a:cxnLst/>
            <a:rect l="l" t="t" r="r" b="b"/>
            <a:pathLst>
              <a:path w="2110619" h="2101300">
                <a:moveTo>
                  <a:pt x="0" y="0"/>
                </a:moveTo>
                <a:lnTo>
                  <a:pt x="2110618" y="0"/>
                </a:lnTo>
                <a:lnTo>
                  <a:pt x="2110618" y="2101300"/>
                </a:lnTo>
                <a:lnTo>
                  <a:pt x="0" y="210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0363984" y="2067747"/>
            <a:ext cx="7924016" cy="6317181"/>
          </a:xfrm>
          <a:custGeom>
            <a:avLst/>
            <a:gdLst/>
            <a:ahLst/>
            <a:cxnLst/>
            <a:rect l="l" t="t" r="r" b="b"/>
            <a:pathLst>
              <a:path w="7924016" h="6317181">
                <a:moveTo>
                  <a:pt x="0" y="0"/>
                </a:moveTo>
                <a:lnTo>
                  <a:pt x="7924016" y="0"/>
                </a:lnTo>
                <a:lnTo>
                  <a:pt x="7924016" y="6317181"/>
                </a:lnTo>
                <a:lnTo>
                  <a:pt x="0" y="6317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294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8261790" y="2243701"/>
            <a:ext cx="2102096" cy="2102096"/>
          </a:xfrm>
          <a:custGeom>
            <a:avLst/>
            <a:gdLst/>
            <a:ahLst/>
            <a:cxnLst/>
            <a:rect l="l" t="t" r="r" b="b"/>
            <a:pathLst>
              <a:path w="2102096" h="2102096">
                <a:moveTo>
                  <a:pt x="0" y="0"/>
                </a:moveTo>
                <a:lnTo>
                  <a:pt x="2102096" y="0"/>
                </a:lnTo>
                <a:lnTo>
                  <a:pt x="2102096" y="2102096"/>
                </a:lnTo>
                <a:lnTo>
                  <a:pt x="0" y="2102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5400000">
            <a:off x="8328072" y="3504041"/>
            <a:ext cx="665331" cy="3406494"/>
          </a:xfrm>
          <a:custGeom>
            <a:avLst/>
            <a:gdLst/>
            <a:ahLst/>
            <a:cxnLst/>
            <a:rect l="l" t="t" r="r" b="b"/>
            <a:pathLst>
              <a:path w="665331" h="3406494">
                <a:moveTo>
                  <a:pt x="0" y="0"/>
                </a:moveTo>
                <a:lnTo>
                  <a:pt x="665330" y="0"/>
                </a:lnTo>
                <a:lnTo>
                  <a:pt x="665330" y="3406494"/>
                </a:lnTo>
                <a:lnTo>
                  <a:pt x="0" y="3406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-5400000">
            <a:off x="8328072" y="5480785"/>
            <a:ext cx="665331" cy="3406494"/>
          </a:xfrm>
          <a:custGeom>
            <a:avLst/>
            <a:gdLst/>
            <a:ahLst/>
            <a:cxnLst/>
            <a:rect l="l" t="t" r="r" b="b"/>
            <a:pathLst>
              <a:path w="665331" h="3406494">
                <a:moveTo>
                  <a:pt x="0" y="0"/>
                </a:moveTo>
                <a:lnTo>
                  <a:pt x="665330" y="0"/>
                </a:lnTo>
                <a:lnTo>
                  <a:pt x="665330" y="3406494"/>
                </a:lnTo>
                <a:lnTo>
                  <a:pt x="0" y="3406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31909" y="650875"/>
            <a:ext cx="1210236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MultiCNN for MIP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909" y="1168803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Methodologies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7127444"/>
            <a:ext cx="2783579" cy="389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Vessel Mask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1095" y="4935443"/>
            <a:ext cx="3734821" cy="29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C233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MIP Extraction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544751" y="7180648"/>
            <a:ext cx="2412739" cy="95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12" name="AutoShape 12"/>
          <p:cNvSpPr/>
          <p:nvPr/>
        </p:nvSpPr>
        <p:spPr>
          <a:xfrm>
            <a:off x="4545465" y="3275700"/>
            <a:ext cx="3716325" cy="190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13" name="AutoShape 13"/>
          <p:cNvSpPr/>
          <p:nvPr/>
        </p:nvSpPr>
        <p:spPr>
          <a:xfrm flipV="1">
            <a:off x="4545739" y="5207288"/>
            <a:ext cx="2411751" cy="95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14" name="AutoShape 14"/>
          <p:cNvSpPr/>
          <p:nvPr/>
        </p:nvSpPr>
        <p:spPr>
          <a:xfrm>
            <a:off x="2323480" y="5226339"/>
            <a:ext cx="221185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Box 15"/>
          <p:cNvSpPr txBox="1"/>
          <p:nvPr/>
        </p:nvSpPr>
        <p:spPr>
          <a:xfrm>
            <a:off x="805817" y="4322923"/>
            <a:ext cx="1171947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3D NIfTI</a:t>
            </a:r>
          </a:p>
        </p:txBody>
      </p:sp>
      <p:sp>
        <p:nvSpPr>
          <p:cNvPr id="16" name="Freeform 16"/>
          <p:cNvSpPr/>
          <p:nvPr/>
        </p:nvSpPr>
        <p:spPr>
          <a:xfrm>
            <a:off x="321910" y="2546384"/>
            <a:ext cx="2139763" cy="1824163"/>
          </a:xfrm>
          <a:custGeom>
            <a:avLst/>
            <a:gdLst/>
            <a:ahLst/>
            <a:cxnLst/>
            <a:rect l="l" t="t" r="r" b="b"/>
            <a:pathLst>
              <a:path w="2139763" h="1824163">
                <a:moveTo>
                  <a:pt x="0" y="0"/>
                </a:moveTo>
                <a:lnTo>
                  <a:pt x="2139762" y="0"/>
                </a:lnTo>
                <a:lnTo>
                  <a:pt x="2139762" y="1824164"/>
                </a:lnTo>
                <a:lnTo>
                  <a:pt x="0" y="18241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8950293" y="1854447"/>
            <a:ext cx="725091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Axial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5422" y="4485367"/>
            <a:ext cx="111063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Sagittal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91730" y="6462111"/>
            <a:ext cx="113801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Coronal</a:t>
            </a:r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AF41EC9F-AFB7-EBEB-07C1-E432047691C9}"/>
              </a:ext>
            </a:extLst>
          </p:cNvPr>
          <p:cNvSpPr/>
          <p:nvPr/>
        </p:nvSpPr>
        <p:spPr>
          <a:xfrm>
            <a:off x="4535293" y="3276315"/>
            <a:ext cx="38" cy="3923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52E51475-1369-C335-9629-61C22435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54435052-0318-5A3B-C739-F79EE6EE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488B-04E1-991A-5205-38A77FAD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2B2263D-8DD4-51B4-EBA3-ED3D81C941A5}"/>
              </a:ext>
            </a:extLst>
          </p:cNvPr>
          <p:cNvSpPr txBox="1"/>
          <p:nvPr/>
        </p:nvSpPr>
        <p:spPr>
          <a:xfrm>
            <a:off x="431909" y="650875"/>
            <a:ext cx="12102369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MultiCNN</a:t>
            </a:r>
            <a:r>
              <a:rPr lang="en-US" sz="3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Performance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E313D10-AF10-0F82-869D-A08CED4DA5AE}"/>
              </a:ext>
            </a:extLst>
          </p:cNvPr>
          <p:cNvSpPr txBox="1"/>
          <p:nvPr/>
        </p:nvSpPr>
        <p:spPr>
          <a:xfrm>
            <a:off x="431909" y="1253076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Methodologies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350268B-9D50-606C-1567-79E5A2918BB7}"/>
              </a:ext>
            </a:extLst>
          </p:cNvPr>
          <p:cNvSpPr txBox="1"/>
          <p:nvPr/>
        </p:nvSpPr>
        <p:spPr>
          <a:xfrm>
            <a:off x="503841" y="1740926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SGD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FA08D2D-40B7-6D1E-1610-C441B2052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10039" y="2159685"/>
            <a:ext cx="6210921" cy="372655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D31ECDB-DDE8-AFA2-EAF3-FA25FA77C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10039" y="5969685"/>
            <a:ext cx="6210921" cy="3726553"/>
          </a:xfrm>
          <a:prstGeom prst="rect">
            <a:avLst/>
          </a:prstGeom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9BB60D6E-FC71-31C8-9A4D-7568F5D68625}"/>
              </a:ext>
            </a:extLst>
          </p:cNvPr>
          <p:cNvSpPr txBox="1"/>
          <p:nvPr/>
        </p:nvSpPr>
        <p:spPr>
          <a:xfrm>
            <a:off x="7163704" y="1795825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RMSPROP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9BAA6FFA-2080-93E8-A735-0BB474FDC9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824" y="2195794"/>
            <a:ext cx="6210921" cy="372655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BB4DE6C1-F0C8-66CE-8DDE-69DD860C86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824" y="6005794"/>
            <a:ext cx="6210921" cy="3726552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91CC54D0-233A-4FC5-369E-ABDD094B81E3}"/>
              </a:ext>
            </a:extLst>
          </p:cNvPr>
          <p:cNvSpPr txBox="1"/>
          <p:nvPr/>
        </p:nvSpPr>
        <p:spPr>
          <a:xfrm>
            <a:off x="13448158" y="1795825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Adam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5C32FC7-700C-2ABC-0261-FF5B719AFA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4278" y="2231903"/>
            <a:ext cx="6210921" cy="3726552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3BDD9A87-575E-F769-F0CE-0DD75F96EF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4278" y="6041903"/>
            <a:ext cx="6210921" cy="3726552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1DE9B33-7C5B-87A5-D3E7-2B89D98D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D6D574-B936-E359-6A72-D19E1EF0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64016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02558" y="3892115"/>
            <a:ext cx="2068586" cy="2068586"/>
          </a:xfrm>
          <a:custGeom>
            <a:avLst/>
            <a:gdLst/>
            <a:ahLst/>
            <a:cxnLst/>
            <a:rect l="l" t="t" r="r" b="b"/>
            <a:pathLst>
              <a:path w="2068586" h="2068586">
                <a:moveTo>
                  <a:pt x="0" y="0"/>
                </a:moveTo>
                <a:lnTo>
                  <a:pt x="2068586" y="0"/>
                </a:lnTo>
                <a:lnTo>
                  <a:pt x="2068586" y="2068585"/>
                </a:lnTo>
                <a:lnTo>
                  <a:pt x="0" y="2068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-5400000">
            <a:off x="3767687" y="5083483"/>
            <a:ext cx="654725" cy="3352190"/>
          </a:xfrm>
          <a:custGeom>
            <a:avLst/>
            <a:gdLst/>
            <a:ahLst/>
            <a:cxnLst/>
            <a:rect l="l" t="t" r="r" b="b"/>
            <a:pathLst>
              <a:path w="654725" h="3352190">
                <a:moveTo>
                  <a:pt x="0" y="0"/>
                </a:moveTo>
                <a:lnTo>
                  <a:pt x="654724" y="0"/>
                </a:lnTo>
                <a:lnTo>
                  <a:pt x="654724" y="3352190"/>
                </a:lnTo>
                <a:lnTo>
                  <a:pt x="0" y="3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-5400000">
            <a:off x="3674381" y="6832695"/>
            <a:ext cx="685217" cy="3508309"/>
          </a:xfrm>
          <a:custGeom>
            <a:avLst/>
            <a:gdLst/>
            <a:ahLst/>
            <a:cxnLst/>
            <a:rect l="l" t="t" r="r" b="b"/>
            <a:pathLst>
              <a:path w="685217" h="3508309">
                <a:moveTo>
                  <a:pt x="0" y="0"/>
                </a:moveTo>
                <a:lnTo>
                  <a:pt x="685217" y="0"/>
                </a:lnTo>
                <a:lnTo>
                  <a:pt x="685217" y="3508309"/>
                </a:lnTo>
                <a:lnTo>
                  <a:pt x="0" y="3508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19277" y="1212832"/>
            <a:ext cx="2105652" cy="1795084"/>
          </a:xfrm>
          <a:custGeom>
            <a:avLst/>
            <a:gdLst/>
            <a:ahLst/>
            <a:cxnLst/>
            <a:rect l="l" t="t" r="r" b="b"/>
            <a:pathLst>
              <a:path w="2105652" h="1795084">
                <a:moveTo>
                  <a:pt x="0" y="0"/>
                </a:moveTo>
                <a:lnTo>
                  <a:pt x="2105652" y="0"/>
                </a:lnTo>
                <a:lnTo>
                  <a:pt x="2105652" y="1795084"/>
                </a:lnTo>
                <a:lnTo>
                  <a:pt x="0" y="1795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1442448">
            <a:off x="1970149" y="1516295"/>
            <a:ext cx="1698071" cy="1690574"/>
          </a:xfrm>
          <a:custGeom>
            <a:avLst/>
            <a:gdLst/>
            <a:ahLst/>
            <a:cxnLst/>
            <a:rect l="l" t="t" r="r" b="b"/>
            <a:pathLst>
              <a:path w="1698071" h="1690574">
                <a:moveTo>
                  <a:pt x="0" y="0"/>
                </a:moveTo>
                <a:lnTo>
                  <a:pt x="1698071" y="0"/>
                </a:lnTo>
                <a:lnTo>
                  <a:pt x="1698071" y="1690574"/>
                </a:lnTo>
                <a:lnTo>
                  <a:pt x="0" y="16905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AutoShape 7"/>
          <p:cNvSpPr/>
          <p:nvPr/>
        </p:nvSpPr>
        <p:spPr>
          <a:xfrm>
            <a:off x="914400" y="5019507"/>
            <a:ext cx="2699805" cy="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AutoShape 8"/>
          <p:cNvSpPr/>
          <p:nvPr/>
        </p:nvSpPr>
        <p:spPr>
          <a:xfrm>
            <a:off x="914400" y="8525047"/>
            <a:ext cx="1348435" cy="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9" name="AutoShape 9"/>
          <p:cNvSpPr/>
          <p:nvPr/>
        </p:nvSpPr>
        <p:spPr>
          <a:xfrm flipV="1">
            <a:off x="914400" y="6759578"/>
            <a:ext cx="150455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10" name="AutoShape 10"/>
          <p:cNvSpPr/>
          <p:nvPr/>
        </p:nvSpPr>
        <p:spPr>
          <a:xfrm flipV="1">
            <a:off x="3614205" y="2738456"/>
            <a:ext cx="133595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3842369" y="1481773"/>
            <a:ext cx="14326353" cy="8957856"/>
          </a:xfrm>
          <a:custGeom>
            <a:avLst/>
            <a:gdLst/>
            <a:ahLst/>
            <a:cxnLst/>
            <a:rect l="l" t="t" r="r" b="b"/>
            <a:pathLst>
              <a:path w="14326353" h="8957856">
                <a:moveTo>
                  <a:pt x="0" y="0"/>
                </a:moveTo>
                <a:lnTo>
                  <a:pt x="14326354" y="0"/>
                </a:lnTo>
                <a:lnTo>
                  <a:pt x="14326354" y="8957855"/>
                </a:lnTo>
                <a:lnTo>
                  <a:pt x="0" y="89578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31909" y="349250"/>
            <a:ext cx="1210236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Multimodal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1909" y="934367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Methodologies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3C761F9-89E1-CFBD-F38A-912543BF9CE1}"/>
              </a:ext>
            </a:extLst>
          </p:cNvPr>
          <p:cNvSpPr/>
          <p:nvPr/>
        </p:nvSpPr>
        <p:spPr>
          <a:xfrm flipV="1">
            <a:off x="914400" y="2908259"/>
            <a:ext cx="0" cy="5616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1C436DC3-4031-BD72-6921-4C0E2C99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11F225-7180-7BD7-0113-44CEE3BA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4420-FA38-7A24-FEA3-823D7C21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5E97478-1555-76E0-A5E9-D7A2278F8DBD}"/>
              </a:ext>
            </a:extLst>
          </p:cNvPr>
          <p:cNvSpPr txBox="1"/>
          <p:nvPr/>
        </p:nvSpPr>
        <p:spPr>
          <a:xfrm>
            <a:off x="431909" y="650875"/>
            <a:ext cx="12102369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MultiModal</a:t>
            </a:r>
            <a:r>
              <a:rPr lang="en-US" sz="3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Performance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B28B63-2B23-A685-6E2D-49EFA16A63B5}"/>
              </a:ext>
            </a:extLst>
          </p:cNvPr>
          <p:cNvSpPr txBox="1"/>
          <p:nvPr/>
        </p:nvSpPr>
        <p:spPr>
          <a:xfrm>
            <a:off x="431909" y="1272778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Methodologies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C31F6E7-D17E-78BC-DA73-4931D9A244E9}"/>
              </a:ext>
            </a:extLst>
          </p:cNvPr>
          <p:cNvSpPr txBox="1"/>
          <p:nvPr/>
        </p:nvSpPr>
        <p:spPr>
          <a:xfrm>
            <a:off x="503841" y="1740926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SGD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AF28C2B-12C2-FF71-06F2-4F18F36B8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10039" y="2159685"/>
            <a:ext cx="6210921" cy="372655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B7FBA90-3710-0219-7B5E-9043B56F0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10039" y="5969685"/>
            <a:ext cx="6210921" cy="3726552"/>
          </a:xfrm>
          <a:prstGeom prst="rect">
            <a:avLst/>
          </a:prstGeom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EFE42793-9215-999C-A69C-6BC0AB3958D3}"/>
              </a:ext>
            </a:extLst>
          </p:cNvPr>
          <p:cNvSpPr txBox="1"/>
          <p:nvPr/>
        </p:nvSpPr>
        <p:spPr>
          <a:xfrm>
            <a:off x="7163704" y="1795825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RMSPROP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99E38D3A-78B6-CCB2-7A4A-D3A30BDDB5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824" y="2195794"/>
            <a:ext cx="6210920" cy="372655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BE1CE516-E347-FC57-570D-CA613B528B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824" y="6005794"/>
            <a:ext cx="6210920" cy="3726552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F3E4F337-17C3-00FB-B466-9CAA2C6D2A27}"/>
              </a:ext>
            </a:extLst>
          </p:cNvPr>
          <p:cNvSpPr txBox="1"/>
          <p:nvPr/>
        </p:nvSpPr>
        <p:spPr>
          <a:xfrm>
            <a:off x="13448158" y="1795825"/>
            <a:ext cx="438316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Adam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4736898-71D8-5868-EB9E-9DFF3A4268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4278" y="2231903"/>
            <a:ext cx="6210920" cy="3726552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265FCD2D-75BD-664B-8C59-4494BE3EA6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4278" y="6041903"/>
            <a:ext cx="6210920" cy="3726552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CF08F6A-D9BD-E757-66FD-1D638338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017183-7EC1-5883-117A-8858DAD7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8274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DF28-A33C-669E-E112-1D1D0BE2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64C54B0E-DB59-32EF-CF13-FEB2C18F34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376" y="0"/>
            <a:ext cx="18319376" cy="10287000"/>
          </a:xfrm>
          <a:prstGeom prst="rect">
            <a:avLst/>
          </a:prstGeom>
          <a:solidFill>
            <a:srgbClr val="82233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D42F6B-9946-B906-EB47-5B231D481127}"/>
              </a:ext>
            </a:extLst>
          </p:cNvPr>
          <p:cNvSpPr txBox="1"/>
          <p:nvPr/>
        </p:nvSpPr>
        <p:spPr>
          <a:xfrm>
            <a:off x="1080247" y="1225719"/>
            <a:ext cx="9203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0"/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Of Contents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03EF60A-4DA2-5127-DB3D-3EAF380065A0}"/>
              </a:ext>
            </a:extLst>
          </p:cNvPr>
          <p:cNvSpPr txBox="1"/>
          <p:nvPr/>
        </p:nvSpPr>
        <p:spPr>
          <a:xfrm>
            <a:off x="1080247" y="2628900"/>
            <a:ext cx="10866121" cy="348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Create MIP Image and Labeling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Tabular Data with </a:t>
            </a:r>
            <a:r>
              <a:rPr lang="en-US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VesselMetrics</a:t>
            </a:r>
            <a:endParaRPr lang="en-US" sz="3000" b="1" dirty="0">
              <a:solidFill>
                <a:schemeClr val="bg1">
                  <a:lumMod val="6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Methodologies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Experiment Results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it-IT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  <a:r>
              <a:rPr lang="it-IT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Future Work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03B17A4-1E8F-C2F1-A8C4-D1B11F49B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3461F-DA7C-17AA-DED6-B37A8575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9645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0C1A6-79E8-8B96-1B9F-AC0DB747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AB75483-5CAD-36F7-0B3B-BFFB458EC6B6}"/>
              </a:ext>
            </a:extLst>
          </p:cNvPr>
          <p:cNvSpPr txBox="1"/>
          <p:nvPr/>
        </p:nvSpPr>
        <p:spPr>
          <a:xfrm>
            <a:off x="762000" y="644151"/>
            <a:ext cx="1210236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Result: Good Prediction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FD9F201-3830-7B48-631A-B9D75CAD4181}"/>
              </a:ext>
            </a:extLst>
          </p:cNvPr>
          <p:cNvSpPr txBox="1"/>
          <p:nvPr/>
        </p:nvSpPr>
        <p:spPr>
          <a:xfrm>
            <a:off x="762000" y="1323601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Experiment Results</a:t>
            </a:r>
          </a:p>
        </p:txBody>
      </p:sp>
      <p:pic>
        <p:nvPicPr>
          <p:cNvPr id="9" name="Immagine 8" descr="Immagine che contiene Policromia, Arte frattale, Elementi grafici, schermata&#10;&#10;Il contenuto generato dall'IA potrebbe non essere corretto.">
            <a:extLst>
              <a:ext uri="{FF2B5EF4-FFF2-40B4-BE49-F238E27FC236}">
                <a16:creationId xmlns:a16="http://schemas.microsoft.com/office/drawing/2014/main" id="{0C6B6B6C-8014-F010-A0F3-0744418E7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31" y="1984545"/>
            <a:ext cx="4998045" cy="3594100"/>
          </a:xfrm>
          <a:prstGeom prst="rect">
            <a:avLst/>
          </a:prstGeom>
        </p:spPr>
      </p:pic>
      <p:pic>
        <p:nvPicPr>
          <p:cNvPr id="11" name="Immagine 10" descr="Immagine che contiene Policromia, schermata, Elementi grafici, testo&#10;&#10;Il contenuto generato dall'IA potrebbe non essere corretto.">
            <a:extLst>
              <a:ext uri="{FF2B5EF4-FFF2-40B4-BE49-F238E27FC236}">
                <a16:creationId xmlns:a16="http://schemas.microsoft.com/office/drawing/2014/main" id="{6E2A8E58-1F1B-8C7C-15CF-82ED328E37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31" y="5662335"/>
            <a:ext cx="4998045" cy="3594100"/>
          </a:xfrm>
          <a:prstGeom prst="rect">
            <a:avLst/>
          </a:prstGeom>
        </p:spPr>
      </p:pic>
      <p:pic>
        <p:nvPicPr>
          <p:cNvPr id="15" name="Immagine 14" descr="Immagine che contiene testo, Policromia, Elementi grafici, schermata&#10;&#10;Il contenuto generato dall'IA potrebbe non essere corretto.">
            <a:extLst>
              <a:ext uri="{FF2B5EF4-FFF2-40B4-BE49-F238E27FC236}">
                <a16:creationId xmlns:a16="http://schemas.microsoft.com/office/drawing/2014/main" id="{14C83666-8BC4-CA30-0CD5-0C99069FF0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2758" y="5662335"/>
            <a:ext cx="4998045" cy="3594100"/>
          </a:xfrm>
          <a:prstGeom prst="rect">
            <a:avLst/>
          </a:prstGeom>
        </p:spPr>
      </p:pic>
      <p:pic>
        <p:nvPicPr>
          <p:cNvPr id="17" name="Immagine 16" descr="Immagine che contiene Policromia, Arte frattale, schermat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19098BE1-F0CE-4F10-C765-57E2E932D5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77" y="5662335"/>
            <a:ext cx="4998045" cy="3594100"/>
          </a:xfrm>
          <a:prstGeom prst="rect">
            <a:avLst/>
          </a:prstGeom>
        </p:spPr>
      </p:pic>
      <p:pic>
        <p:nvPicPr>
          <p:cNvPr id="19" name="Immagine 18" descr="Immagine che contiene Policromia, Elementi grafici, schermata, Arte frattale&#10;&#10;Il contenuto generato dall'IA potrebbe non essere corretto.">
            <a:extLst>
              <a:ext uri="{FF2B5EF4-FFF2-40B4-BE49-F238E27FC236}">
                <a16:creationId xmlns:a16="http://schemas.microsoft.com/office/drawing/2014/main" id="{C201FF5F-9C1B-E410-57DC-B2594D5DF8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86" y="1984545"/>
            <a:ext cx="4998045" cy="3594100"/>
          </a:xfrm>
          <a:prstGeom prst="rect">
            <a:avLst/>
          </a:prstGeom>
        </p:spPr>
      </p:pic>
      <p:pic>
        <p:nvPicPr>
          <p:cNvPr id="21" name="Immagine 20" descr="Immagine che contiene Policromia, Elementi grafici, Arte frattale, grafica&#10;&#10;Il contenuto generato dall'IA potrebbe non essere corretto.">
            <a:extLst>
              <a:ext uri="{FF2B5EF4-FFF2-40B4-BE49-F238E27FC236}">
                <a16:creationId xmlns:a16="http://schemas.microsoft.com/office/drawing/2014/main" id="{04B72A58-46C3-58F5-ECC4-33CCF5FC44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5341" y="1984545"/>
            <a:ext cx="4998045" cy="3594100"/>
          </a:xfrm>
          <a:prstGeom prst="rect">
            <a:avLst/>
          </a:prstGeom>
        </p:spPr>
      </p:pic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6FFF42F-51F0-A96B-734A-B6A22EB9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DF041D0-8334-1C39-3E06-4B91A1D5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5579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CD29-D4BA-3AA5-7690-FEDE9EBE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15AE59A-1495-ED2F-C8E4-5C89948783A9}"/>
              </a:ext>
            </a:extLst>
          </p:cNvPr>
          <p:cNvSpPr txBox="1"/>
          <p:nvPr/>
        </p:nvSpPr>
        <p:spPr>
          <a:xfrm>
            <a:off x="762000" y="644151"/>
            <a:ext cx="1210236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Result: Bad Prediction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6DA189F-0409-FFCB-E755-3111937AEBC9}"/>
              </a:ext>
            </a:extLst>
          </p:cNvPr>
          <p:cNvSpPr txBox="1"/>
          <p:nvPr/>
        </p:nvSpPr>
        <p:spPr>
          <a:xfrm>
            <a:off x="762000" y="1323601"/>
            <a:ext cx="4864007" cy="45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Experiment Results</a:t>
            </a:r>
          </a:p>
        </p:txBody>
      </p:sp>
      <p:pic>
        <p:nvPicPr>
          <p:cNvPr id="3" name="Immagine 2" descr="Immagine che contiene Policromia, schermata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827D4B88-9AE2-02F7-0CE9-0953DBCFE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961057"/>
            <a:ext cx="4998046" cy="3594100"/>
          </a:xfrm>
          <a:prstGeom prst="rect">
            <a:avLst/>
          </a:prstGeom>
        </p:spPr>
      </p:pic>
      <p:pic>
        <p:nvPicPr>
          <p:cNvPr id="7" name="Immagine 6" descr="Immagine che contiene testo, Policromia, Elementi grafici, schermata&#10;&#10;Il contenuto generato dall'IA potrebbe non essere corretto.">
            <a:extLst>
              <a:ext uri="{FF2B5EF4-FFF2-40B4-BE49-F238E27FC236}">
                <a16:creationId xmlns:a16="http://schemas.microsoft.com/office/drawing/2014/main" id="{F01B6647-37E9-A652-91C8-79ED4C7DE8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77689"/>
            <a:ext cx="4998046" cy="3594100"/>
          </a:xfrm>
          <a:prstGeom prst="rect">
            <a:avLst/>
          </a:prstGeom>
        </p:spPr>
      </p:pic>
      <p:pic>
        <p:nvPicPr>
          <p:cNvPr id="10" name="Immagine 9" descr="Immagine che contiene schermata, Policromia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18F86A63-FF97-BA4B-D17D-AEA4423716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8954" y="5930214"/>
            <a:ext cx="4998046" cy="3594100"/>
          </a:xfrm>
          <a:prstGeom prst="rect">
            <a:avLst/>
          </a:prstGeom>
        </p:spPr>
      </p:pic>
      <p:pic>
        <p:nvPicPr>
          <p:cNvPr id="20" name="Immagine 19" descr="Immagine che contiene Policromia, Elementi grafici,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984F689D-1E7D-4D6E-960B-B58FD1C81C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78" y="2077689"/>
            <a:ext cx="4998045" cy="3594100"/>
          </a:xfrm>
          <a:prstGeom prst="rect">
            <a:avLst/>
          </a:prstGeom>
        </p:spPr>
      </p:pic>
      <p:pic>
        <p:nvPicPr>
          <p:cNvPr id="22" name="Immagine 21" descr="Immagine che contiene Policromia, schermata, Elementi grafici, Arte frattale&#10;&#10;Il contenuto generato dall'IA potrebbe non essere corretto.">
            <a:extLst>
              <a:ext uri="{FF2B5EF4-FFF2-40B4-BE49-F238E27FC236}">
                <a16:creationId xmlns:a16="http://schemas.microsoft.com/office/drawing/2014/main" id="{3F2A6616-E993-A65F-EE4F-02B90893F7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8953" y="2077689"/>
            <a:ext cx="4998045" cy="3594100"/>
          </a:xfrm>
          <a:prstGeom prst="rect">
            <a:avLst/>
          </a:prstGeom>
        </p:spPr>
      </p:pic>
      <p:pic>
        <p:nvPicPr>
          <p:cNvPr id="24" name="Immagine 23" descr="Immagine che contiene testo, Policromia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CA1E1043-CCCD-2A37-59C6-7F981C1EB2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77" y="5961057"/>
            <a:ext cx="4998045" cy="3594100"/>
          </a:xfrm>
          <a:prstGeom prst="rect">
            <a:avLst/>
          </a:prstGeom>
        </p:spPr>
      </p:pic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3B78016A-2261-48C3-3737-BB71A2E1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8266F55D-B297-9A85-BDAE-EBD0B7EB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49754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232B-03BA-958C-928C-4D54F0F9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29852DA3-7717-FCD2-6113-C3D570A135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376" y="0"/>
            <a:ext cx="18319376" cy="10287000"/>
          </a:xfrm>
          <a:prstGeom prst="rect">
            <a:avLst/>
          </a:prstGeom>
          <a:solidFill>
            <a:srgbClr val="82233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5FEEAE5-CEBA-D594-35AD-1163B4322FC0}"/>
              </a:ext>
            </a:extLst>
          </p:cNvPr>
          <p:cNvSpPr txBox="1"/>
          <p:nvPr/>
        </p:nvSpPr>
        <p:spPr>
          <a:xfrm>
            <a:off x="1080247" y="1225719"/>
            <a:ext cx="9203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0"/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Of Contents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68ED06E-3F6A-89CB-D2F6-1E8B394B3601}"/>
              </a:ext>
            </a:extLst>
          </p:cNvPr>
          <p:cNvSpPr txBox="1"/>
          <p:nvPr/>
        </p:nvSpPr>
        <p:spPr>
          <a:xfrm>
            <a:off x="1080247" y="2628900"/>
            <a:ext cx="10866121" cy="348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Create MIP Image and Labeling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Tabular Data with </a:t>
            </a:r>
            <a:r>
              <a:rPr lang="en-US" sz="3000" b="1" dirty="0" err="1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VesselMetrics</a:t>
            </a:r>
            <a:endParaRPr lang="en-US" sz="3000" b="1" dirty="0">
              <a:solidFill>
                <a:schemeClr val="bg1">
                  <a:lumMod val="6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Methodologies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Experiment Results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it-IT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  <a:r>
              <a:rPr lang="it-IT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Future Work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600C507-D115-911B-844E-1AE775032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67F9-20AE-C4BE-ACBF-4B6CCB18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273852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8EEE-48F9-F6B2-D89D-F51D26B9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2671B4EF-4364-045F-F51E-5E0BB585086B}"/>
              </a:ext>
            </a:extLst>
          </p:cNvPr>
          <p:cNvSpPr txBox="1"/>
          <p:nvPr/>
        </p:nvSpPr>
        <p:spPr>
          <a:xfrm>
            <a:off x="762000" y="644151"/>
            <a:ext cx="1210236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 and Next Steps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C6DC40E-F0CD-72C4-C496-D76CA70FC8CF}"/>
              </a:ext>
            </a:extLst>
          </p:cNvPr>
          <p:cNvSpPr txBox="1"/>
          <p:nvPr/>
        </p:nvSpPr>
        <p:spPr>
          <a:xfrm>
            <a:off x="762000" y="1323601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Conclusions &amp; 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BCC69-1D78-FBEB-9D01-A0C407436750}"/>
              </a:ext>
            </a:extLst>
          </p:cNvPr>
          <p:cNvSpPr txBox="1"/>
          <p:nvPr/>
        </p:nvSpPr>
        <p:spPr>
          <a:xfrm>
            <a:off x="266698" y="2072730"/>
            <a:ext cx="17754600" cy="385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began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by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analyzing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it-IT" sz="2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Tabular MLP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model.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model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proved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be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solid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stable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hitting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"ceiling" (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Validation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of </a:t>
            </a:r>
            <a:r>
              <a:rPr lang="it-IT" sz="2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~79%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the Adam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optimizer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However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showed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limitations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capturing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higher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complexities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failing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break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through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threshold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Moving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more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</a:t>
            </a:r>
            <a:r>
              <a:rPr lang="it-IT" sz="23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MultiModal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model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clearly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outperformed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baseline; with the Adam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optimizer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reached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peaks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lang="it-IT" sz="2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~83%</a:t>
            </a:r>
            <a:endParaRPr lang="it-IT" sz="2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3780"/>
              </a:lnSpc>
              <a:spcBef>
                <a:spcPct val="0"/>
              </a:spcBef>
            </a:pPr>
            <a:endParaRPr lang="it-IT" sz="2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comparative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analysis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between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MLP,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MultiCNN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MultiModal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revealed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it-IT" sz="23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MultiModal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offers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best performance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potential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careful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optimization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management. And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finally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by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GradCAM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visual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analysis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tells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high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numerical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the </a:t>
            </a:r>
            <a:r>
              <a:rPr lang="it-IT" sz="23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MultiModal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model must be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taken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</a:t>
            </a:r>
            <a:r>
              <a:rPr lang="it-IT" sz="2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caution</a:t>
            </a:r>
            <a:r>
              <a:rPr lang="it-IT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23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1" name="Freccia giù 10">
            <a:extLst>
              <a:ext uri="{FF2B5EF4-FFF2-40B4-BE49-F238E27FC236}">
                <a16:creationId xmlns:a16="http://schemas.microsoft.com/office/drawing/2014/main" id="{2B663351-0F2D-741B-6B99-E56FB2319E04}"/>
              </a:ext>
            </a:extLst>
          </p:cNvPr>
          <p:cNvSpPr/>
          <p:nvPr/>
        </p:nvSpPr>
        <p:spPr>
          <a:xfrm>
            <a:off x="8920160" y="6487966"/>
            <a:ext cx="447678" cy="1143000"/>
          </a:xfrm>
          <a:prstGeom prst="downArrow">
            <a:avLst/>
          </a:prstGeom>
          <a:solidFill>
            <a:srgbClr val="822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4CD49DF-D836-BE26-0895-FA10C5D328E8}"/>
              </a:ext>
            </a:extLst>
          </p:cNvPr>
          <p:cNvSpPr txBox="1"/>
          <p:nvPr/>
        </p:nvSpPr>
        <p:spPr>
          <a:xfrm>
            <a:off x="7415213" y="7915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F1C5FD0-3191-E451-F1D0-FEAA897E1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49" y="7630966"/>
            <a:ext cx="18021300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</a:t>
            </a:r>
            <a:r>
              <a:rPr kumimoji="0" lang="it-IT" altLang="it-IT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Hyperparameter</a:t>
            </a:r>
            <a:r>
              <a:rPr kumimoji="0" lang="it-IT" altLang="it-IT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Tuning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introduce more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forms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regularization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such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aggressive Dropout) to mitigate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overfitting</a:t>
            </a:r>
            <a:endParaRPr lang="it-IT" altLang="it-IT" sz="2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</a:t>
            </a:r>
            <a:r>
              <a:rPr kumimoji="0" lang="it-IT" altLang="it-IT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different</a:t>
            </a:r>
            <a:r>
              <a:rPr kumimoji="0" lang="it-IT" altLang="it-IT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Backbone</a:t>
            </a:r>
            <a:r>
              <a:rPr kumimoji="0" lang="it-IT" altLang="it-IT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architectures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project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relied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solely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on ResNet18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</a:t>
            </a:r>
            <a:r>
              <a:rPr kumimoji="0" lang="it-IT" altLang="it-IT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advanced</a:t>
            </a:r>
            <a:r>
              <a:rPr kumimoji="0" lang="it-IT" altLang="it-IT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fusion techniques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like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CrossAttention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instead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simple</a:t>
            </a:r>
            <a:r>
              <a:rPr kumimoji="0" lang="it-IT" altLang="it-IT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linear </a:t>
            </a:r>
            <a:r>
              <a:rPr kumimoji="0" lang="it-IT" altLang="it-IT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concatenation</a:t>
            </a:r>
            <a:endParaRPr kumimoji="0" lang="it-IT" altLang="it-IT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D4864941-11F8-36AD-0888-A5F530643BAB}"/>
              </a:ext>
            </a:extLst>
          </p:cNvPr>
          <p:cNvSpPr txBox="1"/>
          <p:nvPr/>
        </p:nvSpPr>
        <p:spPr>
          <a:xfrm>
            <a:off x="6711995" y="5925580"/>
            <a:ext cx="486400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822333"/>
                </a:solidFill>
                <a:latin typeface="Open Sans"/>
                <a:ea typeface="Open Sans"/>
                <a:cs typeface="Open Sans"/>
                <a:sym typeface="Open Sans"/>
              </a:rPr>
              <a:t>Next Steps?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ACEA1301-8738-624A-5699-FB7880F7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0D88210-E3D4-01FF-A0EE-76288F6B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7706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Elementi grafici, grafica, testo, cerchio&#10;&#10;Il contenuto generato dall'IA potrebbe non essere corretto.">
            <a:extLst>
              <a:ext uri="{FF2B5EF4-FFF2-40B4-BE49-F238E27FC236}">
                <a16:creationId xmlns:a16="http://schemas.microsoft.com/office/drawing/2014/main" id="{BFD93F73-368A-C878-035F-C085884D1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429" y="1826554"/>
            <a:ext cx="7237141" cy="7237141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3698406" y="4765675"/>
            <a:ext cx="1089118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Thank you for your attention!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41BFFF7-C6D9-16DA-8690-5F7ACED0C7C5}"/>
              </a:ext>
            </a:extLst>
          </p:cNvPr>
          <p:cNvSpPr txBox="1"/>
          <p:nvPr/>
        </p:nvSpPr>
        <p:spPr>
          <a:xfrm>
            <a:off x="1981199" y="8728186"/>
            <a:ext cx="14325600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latin typeface="Open Sans Bold Italics"/>
                <a:ea typeface="Open Sans Bold Italics"/>
                <a:cs typeface="Open Sans Bold Italics"/>
                <a:sym typeface="Open Sans Bold Itali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https://github.com/LeoRamill/VesselVerse-QualityControl</a:t>
            </a:r>
            <a:endParaRPr lang="en-US" sz="3999" b="1" i="1" dirty="0"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FA0A0634-75A3-7DF1-397A-1B09AC3E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8DFA639-B4D2-FA61-3045-652060D4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5555 " pathEditMode="relative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4784725"/>
            <a:ext cx="952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833171" y="1494226"/>
            <a:ext cx="15395713" cy="776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Selvaraju, R. R., et al. (2019).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Grad-CAM: Visual Explanations from Deep Networks via Gradient-based Localization. </a:t>
            </a:r>
            <a:r>
              <a:rPr lang="en-US" sz="2577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International Journal of Computer Vision (IJCV)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128, 336–359. (Originally ICCV 2017).</a:t>
            </a:r>
          </a:p>
          <a:p>
            <a:pPr algn="l">
              <a:lnSpc>
                <a:spcPts val="3608"/>
              </a:lnSpc>
            </a:pPr>
            <a:endParaRPr lang="en-US" sz="2577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08"/>
              </a:lnSpc>
            </a:pPr>
            <a:r>
              <a:rPr lang="en-US" sz="257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Li, Y., et al. (2024).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review of deep learning-based information fusion techniques for multimodal medical image classification. </a:t>
            </a:r>
            <a:r>
              <a:rPr lang="en-US" sz="2577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Computers in Biology and Medicine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177, 108635.</a:t>
            </a:r>
          </a:p>
          <a:p>
            <a:pPr algn="l">
              <a:lnSpc>
                <a:spcPts val="3608"/>
              </a:lnSpc>
            </a:pPr>
            <a:endParaRPr lang="en-US" sz="2577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08"/>
              </a:lnSpc>
            </a:pPr>
            <a:r>
              <a:rPr lang="en-US" sz="257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Hussain, S. S., et al. (2025).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77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AlzFormer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Multi-modal framework for Alzheimer's classification using MRI and graph-embedded demographics. </a:t>
            </a:r>
            <a:r>
              <a:rPr lang="en-US" sz="2577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Computerized Medical Imaging and Graphics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124, 102638. DOI: 10.1016/j.compmedimag.2025.102638.</a:t>
            </a:r>
          </a:p>
          <a:p>
            <a:pPr algn="l">
              <a:lnSpc>
                <a:spcPts val="3608"/>
              </a:lnSpc>
            </a:pPr>
            <a:endParaRPr lang="en-US" sz="2577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08"/>
              </a:lnSpc>
            </a:pPr>
            <a:r>
              <a:rPr lang="en-US" sz="257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Falcetta, D., et al. (2025).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77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VesselVerse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A Dataset and Collaborative Framework for Vessel Annotation. </a:t>
            </a:r>
            <a:r>
              <a:rPr lang="en-US" sz="2577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Medical Image Computing and Computer-Assisted Intervention (MICCAI) 2025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LNCS 15972, pp. 656–666. Springer Nature.</a:t>
            </a:r>
          </a:p>
          <a:p>
            <a:pPr algn="l">
              <a:lnSpc>
                <a:spcPts val="3608"/>
              </a:lnSpc>
            </a:pPr>
            <a:endParaRPr lang="en-US" sz="2577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08"/>
              </a:lnSpc>
            </a:pPr>
            <a:r>
              <a:rPr lang="en-US" sz="257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Falcetta, D., et al. (2026).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 Automated Framework for Large-Scale Graph-Based Cerebrovascular Analysis. </a:t>
            </a:r>
            <a:r>
              <a:rPr lang="en-US" sz="2577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IEEE International Symposium on Biomedical Imaging (ISBI) 2026</a:t>
            </a:r>
            <a:r>
              <a:rPr lang="en-US" sz="257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(Preprint arXiv:2512.03869).</a:t>
            </a:r>
          </a:p>
          <a:p>
            <a:pPr algn="ctr">
              <a:lnSpc>
                <a:spcPts val="3608"/>
              </a:lnSpc>
              <a:spcBef>
                <a:spcPct val="0"/>
              </a:spcBef>
            </a:pPr>
            <a:endParaRPr lang="en-US" sz="2577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3171" y="650875"/>
            <a:ext cx="1089118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9967CAB-675B-C63F-62C2-A3BA46A3C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9772734"/>
            <a:ext cx="17449800" cy="546100"/>
          </a:xfrm>
          <a:solidFill>
            <a:srgbClr val="822333"/>
          </a:solidFill>
        </p:spPr>
        <p:txBody>
          <a:bodyPr/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Leonard Vincent Ramil – </a:t>
            </a:r>
            <a:r>
              <a:rPr lang="en-US" sz="2000" b="1" dirty="0" err="1">
                <a:solidFill>
                  <a:schemeClr val="bg1"/>
                </a:solidFill>
              </a:rPr>
              <a:t>VesselVerse</a:t>
            </a:r>
            <a:r>
              <a:rPr lang="en-US" sz="2000" b="1" dirty="0">
                <a:solidFill>
                  <a:schemeClr val="bg1"/>
                </a:solidFill>
              </a:rPr>
              <a:t> Quality 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93F86-41AD-2AC6-3F24-FA2F1078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772735"/>
            <a:ext cx="838200" cy="546099"/>
          </a:xfrm>
          <a:solidFill>
            <a:srgbClr val="822333"/>
          </a:solidFill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932</Words>
  <Application>Microsoft Macintosh PowerPoint</Application>
  <PresentationFormat>Personalizzato</PresentationFormat>
  <Paragraphs>189</Paragraphs>
  <Slides>22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30" baseType="lpstr">
      <vt:lpstr>Open Sans Bold</vt:lpstr>
      <vt:lpstr>Arial</vt:lpstr>
      <vt:lpstr>Open Sans Bold Italics</vt:lpstr>
      <vt:lpstr>Calibri</vt:lpstr>
      <vt:lpstr>Aptos</vt:lpstr>
      <vt:lpstr>Open Sans</vt:lpstr>
      <vt:lpstr>Open Sans Italics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Step: Create Image MIP</dc:title>
  <cp:lastModifiedBy>Leonard Vincent Ramil</cp:lastModifiedBy>
  <cp:revision>5</cp:revision>
  <dcterms:created xsi:type="dcterms:W3CDTF">2006-08-16T00:00:00Z</dcterms:created>
  <dcterms:modified xsi:type="dcterms:W3CDTF">2026-02-05T15:06:11Z</dcterms:modified>
  <dc:identifier>DAG6h1lbfpU</dc:identifier>
</cp:coreProperties>
</file>